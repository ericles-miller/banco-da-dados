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06" r:id="rId2"/>
    <p:sldId id="260" r:id="rId3"/>
    <p:sldId id="257" r:id="rId4"/>
    <p:sldId id="271" r:id="rId5"/>
    <p:sldId id="272" r:id="rId6"/>
    <p:sldId id="273" r:id="rId7"/>
    <p:sldId id="274" r:id="rId8"/>
    <p:sldId id="293" r:id="rId9"/>
    <p:sldId id="270" r:id="rId10"/>
    <p:sldId id="294" r:id="rId11"/>
    <p:sldId id="295" r:id="rId12"/>
    <p:sldId id="276" r:id="rId13"/>
    <p:sldId id="275" r:id="rId14"/>
    <p:sldId id="279" r:id="rId15"/>
    <p:sldId id="298" r:id="rId16"/>
    <p:sldId id="296" r:id="rId17"/>
    <p:sldId id="297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26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600"/>
    <a:srgbClr val="E4EEF8"/>
    <a:srgbClr val="FF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6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C2BC-BB12-4356-B418-8CA165DF246F}" type="datetimeFigureOut">
              <a:rPr lang="pt-BR" smtClean="0"/>
              <a:pPr/>
              <a:t>27/02/2019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Modelo Relacional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Leandro C. Almeida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593357" y="765622"/>
            <a:ext cx="10552698" cy="34406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Sumário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Conceitos e terminologias;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 das relações;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Restrição de integridade;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Restrição de participação;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Mapeamento do ME-R para o modelo Relacional.</a:t>
            </a:r>
          </a:p>
        </p:txBody>
      </p:sp>
    </p:spTree>
    <p:extLst>
      <p:ext uri="{BB962C8B-B14F-4D97-AF65-F5344CB8AC3E}">
        <p14:creationId xmlns="" xmlns:p14="http://schemas.microsoft.com/office/powerpoint/2010/main" val="195598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Terminologias do Modelo Relacional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400" b="1" dirty="0" smtClean="0"/>
              <a:t>Esquema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000" dirty="0" smtClean="0"/>
              <a:t>A descrição da organização dos dados de um BD.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000" dirty="0" smtClean="0"/>
              <a:t>Em resumo um esquema é formado pelo Nome da Tabela (Relação) e seus Atributos (colunas).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400" b="1" dirty="0" smtClean="0"/>
              <a:t>Instância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000" dirty="0" smtClean="0"/>
              <a:t>Os dados armazenados em um BD, em um momento específico, são denominados instâncias do BD - (fotografia do BD em um instante)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400" b="1" dirty="0" smtClean="0"/>
              <a:t>Domínio</a:t>
            </a:r>
            <a:endParaRPr lang="pt-BR" b="1" dirty="0" smtClean="0"/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000" dirty="0" smtClean="0"/>
              <a:t>O domínio consiste de um grupo de valores atômicos a partir dos quais um ou mais atributos retiram seus valores reais.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400" b="1" dirty="0" err="1" smtClean="0"/>
              <a:t>Tupla</a:t>
            </a:r>
            <a:endParaRPr lang="pt-BR" b="1" dirty="0" smtClean="0"/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485775" algn="l"/>
              </a:tabLst>
            </a:pPr>
            <a:r>
              <a:rPr lang="pt-BR" sz="2000" dirty="0" smtClean="0"/>
              <a:t>É cada linha formada por uma lista ordenada de colunas (atributos). É também conhecido como registro.</a:t>
            </a: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  <p:sp>
        <p:nvSpPr>
          <p:cNvPr id="32" name="Espaço Reservado para Rodapé 2"/>
          <p:cNvSpPr>
            <a:spLocks noGrp="1"/>
          </p:cNvSpPr>
          <p:nvPr>
            <p:ph type="ftr" sz="quarter" idx="11"/>
          </p:nvPr>
        </p:nvSpPr>
        <p:spPr bwMode="auto">
          <a:xfrm>
            <a:off x="1762048" y="4722662"/>
            <a:ext cx="4722813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/>
              <a:t>Fundamentos de Banco de Dados</a:t>
            </a:r>
          </a:p>
        </p:txBody>
      </p:sp>
      <p:sp>
        <p:nvSpPr>
          <p:cNvPr id="33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xfrm>
            <a:off x="7697711" y="4722662"/>
            <a:ext cx="51117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9FCC3BF-77FE-4331-A3B1-8E7A86B07DDC}" type="slidenum">
              <a:rPr lang="pt-BR" smtClean="0"/>
              <a:pPr/>
              <a:t>4</a:t>
            </a:fld>
            <a:endParaRPr lang="pt-BR" smtClean="0"/>
          </a:p>
        </p:txBody>
      </p:sp>
      <p:sp>
        <p:nvSpPr>
          <p:cNvPr id="34" name="Rectangle 41"/>
          <p:cNvSpPr>
            <a:spLocks noChangeArrowheads="1"/>
          </p:cNvSpPr>
          <p:nvPr/>
        </p:nvSpPr>
        <p:spPr bwMode="auto">
          <a:xfrm>
            <a:off x="1939848" y="4929037"/>
            <a:ext cx="76962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Rectangle 42"/>
          <p:cNvSpPr>
            <a:spLocks noChangeArrowheads="1"/>
          </p:cNvSpPr>
          <p:nvPr/>
        </p:nvSpPr>
        <p:spPr bwMode="auto">
          <a:xfrm>
            <a:off x="1406448" y="2719237"/>
            <a:ext cx="6858000" cy="2667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Line 43"/>
          <p:cNvSpPr>
            <a:spLocks noChangeShapeType="1"/>
          </p:cNvSpPr>
          <p:nvPr/>
        </p:nvSpPr>
        <p:spPr bwMode="auto">
          <a:xfrm>
            <a:off x="1406448" y="3252637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>
            <a:off x="1406448" y="3709837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8" name="Line 45"/>
          <p:cNvSpPr>
            <a:spLocks noChangeShapeType="1"/>
          </p:cNvSpPr>
          <p:nvPr/>
        </p:nvSpPr>
        <p:spPr bwMode="auto">
          <a:xfrm>
            <a:off x="1406448" y="4319437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9" name="Line 46"/>
          <p:cNvSpPr>
            <a:spLocks noChangeShapeType="1"/>
          </p:cNvSpPr>
          <p:nvPr/>
        </p:nvSpPr>
        <p:spPr bwMode="auto">
          <a:xfrm>
            <a:off x="1406448" y="4852837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0" name="Line 47"/>
          <p:cNvSpPr>
            <a:spLocks noChangeShapeType="1"/>
          </p:cNvSpPr>
          <p:nvPr/>
        </p:nvSpPr>
        <p:spPr bwMode="auto">
          <a:xfrm>
            <a:off x="2549448" y="2719237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1" name="Line 48"/>
          <p:cNvSpPr>
            <a:spLocks noChangeShapeType="1"/>
          </p:cNvSpPr>
          <p:nvPr/>
        </p:nvSpPr>
        <p:spPr bwMode="auto">
          <a:xfrm>
            <a:off x="4987848" y="2719237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2" name="Line 49"/>
          <p:cNvSpPr>
            <a:spLocks noChangeShapeType="1"/>
          </p:cNvSpPr>
          <p:nvPr/>
        </p:nvSpPr>
        <p:spPr bwMode="auto">
          <a:xfrm>
            <a:off x="6740448" y="2719237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3" name="Rectangle 50"/>
          <p:cNvSpPr>
            <a:spLocks noChangeArrowheads="1"/>
          </p:cNvSpPr>
          <p:nvPr/>
        </p:nvSpPr>
        <p:spPr bwMode="auto">
          <a:xfrm>
            <a:off x="1406448" y="3285975"/>
            <a:ext cx="6781800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/>
              <a:t>F1		Paulo		      20		Lins</a:t>
            </a:r>
          </a:p>
          <a:p>
            <a:pPr>
              <a:spcBef>
                <a:spcPct val="50000"/>
              </a:spcBef>
            </a:pPr>
            <a:r>
              <a:rPr lang="pt-BR" sz="2400"/>
              <a:t>F2		César		      10		Palmas</a:t>
            </a:r>
          </a:p>
          <a:p>
            <a:pPr>
              <a:spcBef>
                <a:spcPct val="50000"/>
              </a:spcBef>
            </a:pPr>
            <a:r>
              <a:rPr lang="pt-BR" sz="2400"/>
              <a:t>F3		Carlos		      30		Lins</a:t>
            </a:r>
          </a:p>
          <a:p>
            <a:pPr>
              <a:spcBef>
                <a:spcPct val="50000"/>
              </a:spcBef>
            </a:pPr>
            <a:r>
              <a:rPr lang="pt-BR" sz="2400"/>
              <a:t>F4		Matilde	      20		Brasília</a:t>
            </a:r>
          </a:p>
        </p:txBody>
      </p:sp>
      <p:grpSp>
        <p:nvGrpSpPr>
          <p:cNvPr id="44" name="Group 51"/>
          <p:cNvGrpSpPr>
            <a:grpSpLocks/>
          </p:cNvGrpSpPr>
          <p:nvPr/>
        </p:nvGrpSpPr>
        <p:grpSpPr bwMode="auto">
          <a:xfrm>
            <a:off x="8420022" y="2272937"/>
            <a:ext cx="1311807" cy="3344092"/>
            <a:chOff x="4464" y="2448"/>
            <a:chExt cx="432" cy="1824"/>
          </a:xfrm>
        </p:grpSpPr>
        <p:sp>
          <p:nvSpPr>
            <p:cNvPr id="45" name="Line 52"/>
            <p:cNvSpPr>
              <a:spLocks noChangeShapeType="1"/>
            </p:cNvSpPr>
            <p:nvPr/>
          </p:nvSpPr>
          <p:spPr bwMode="auto">
            <a:xfrm>
              <a:off x="4464" y="2448"/>
              <a:ext cx="96" cy="0"/>
            </a:xfrm>
            <a:prstGeom prst="line">
              <a:avLst/>
            </a:prstGeom>
            <a:noFill/>
            <a:ln w="12700">
              <a:solidFill>
                <a:srgbClr val="0033CC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53"/>
            <p:cNvSpPr>
              <a:spLocks noChangeShapeType="1"/>
            </p:cNvSpPr>
            <p:nvPr/>
          </p:nvSpPr>
          <p:spPr bwMode="auto">
            <a:xfrm>
              <a:off x="4560" y="2448"/>
              <a:ext cx="0" cy="1824"/>
            </a:xfrm>
            <a:prstGeom prst="line">
              <a:avLst/>
            </a:prstGeom>
            <a:noFill/>
            <a:ln w="12700">
              <a:solidFill>
                <a:srgbClr val="0033CC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Line 54"/>
            <p:cNvSpPr>
              <a:spLocks noChangeShapeType="1"/>
            </p:cNvSpPr>
            <p:nvPr/>
          </p:nvSpPr>
          <p:spPr bwMode="auto">
            <a:xfrm>
              <a:off x="4464" y="4272"/>
              <a:ext cx="96" cy="0"/>
            </a:xfrm>
            <a:prstGeom prst="line">
              <a:avLst/>
            </a:prstGeom>
            <a:noFill/>
            <a:ln w="12700">
              <a:solidFill>
                <a:srgbClr val="0033CC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Line 55"/>
            <p:cNvSpPr>
              <a:spLocks noChangeShapeType="1"/>
            </p:cNvSpPr>
            <p:nvPr/>
          </p:nvSpPr>
          <p:spPr bwMode="auto">
            <a:xfrm>
              <a:off x="4560" y="3264"/>
              <a:ext cx="336" cy="0"/>
            </a:xfrm>
            <a:prstGeom prst="line">
              <a:avLst/>
            </a:prstGeom>
            <a:noFill/>
            <a:ln w="12700">
              <a:solidFill>
                <a:srgbClr val="0033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9" name="Text Box 56"/>
          <p:cNvSpPr txBox="1">
            <a:spLocks noChangeArrowheads="1"/>
          </p:cNvSpPr>
          <p:nvPr/>
        </p:nvSpPr>
        <p:spPr bwMode="auto">
          <a:xfrm>
            <a:off x="9817701" y="3506047"/>
            <a:ext cx="121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rgbClr val="0033CC"/>
                </a:solidFill>
              </a:rPr>
              <a:t>Relação</a:t>
            </a:r>
          </a:p>
        </p:txBody>
      </p: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8188248" y="2403566"/>
            <a:ext cx="685800" cy="849071"/>
            <a:chOff x="4368" y="2448"/>
            <a:chExt cx="432" cy="432"/>
          </a:xfrm>
        </p:grpSpPr>
        <p:sp>
          <p:nvSpPr>
            <p:cNvPr id="51" name="Line 58"/>
            <p:cNvSpPr>
              <a:spLocks noChangeShapeType="1"/>
            </p:cNvSpPr>
            <p:nvPr/>
          </p:nvSpPr>
          <p:spPr bwMode="auto">
            <a:xfrm>
              <a:off x="4464" y="2688"/>
              <a:ext cx="336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Line 59"/>
            <p:cNvSpPr>
              <a:spLocks noChangeShapeType="1"/>
            </p:cNvSpPr>
            <p:nvPr/>
          </p:nvSpPr>
          <p:spPr bwMode="auto">
            <a:xfrm>
              <a:off x="4368" y="2448"/>
              <a:ext cx="96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Line 60"/>
            <p:cNvSpPr>
              <a:spLocks noChangeShapeType="1"/>
            </p:cNvSpPr>
            <p:nvPr/>
          </p:nvSpPr>
          <p:spPr bwMode="auto">
            <a:xfrm>
              <a:off x="4464" y="2448"/>
              <a:ext cx="0" cy="4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Line 61"/>
            <p:cNvSpPr>
              <a:spLocks noChangeShapeType="1"/>
            </p:cNvSpPr>
            <p:nvPr/>
          </p:nvSpPr>
          <p:spPr bwMode="auto">
            <a:xfrm>
              <a:off x="4368" y="2880"/>
              <a:ext cx="96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5" name="Text Box 62"/>
          <p:cNvSpPr txBox="1">
            <a:spLocks noChangeArrowheads="1"/>
          </p:cNvSpPr>
          <p:nvPr/>
        </p:nvSpPr>
        <p:spPr bwMode="auto">
          <a:xfrm>
            <a:off x="8894323" y="2664809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FF3300"/>
                </a:solidFill>
              </a:rPr>
              <a:t>Esquema</a:t>
            </a:r>
          </a:p>
        </p:txBody>
      </p:sp>
      <p:sp>
        <p:nvSpPr>
          <p:cNvPr id="56" name="Rectangle 63"/>
          <p:cNvSpPr>
            <a:spLocks noChangeArrowheads="1"/>
          </p:cNvSpPr>
          <p:nvPr/>
        </p:nvSpPr>
        <p:spPr bwMode="auto">
          <a:xfrm>
            <a:off x="1406448" y="2738287"/>
            <a:ext cx="678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 b="1" dirty="0" smtClean="0"/>
              <a:t>Código          </a:t>
            </a:r>
            <a:r>
              <a:rPr lang="pt-BR" sz="2400" b="1" dirty="0" smtClean="0"/>
              <a:t>Nome</a:t>
            </a:r>
            <a:r>
              <a:rPr lang="pt-BR" sz="2400" b="1" dirty="0"/>
              <a:t>		Categoria	Cidade</a:t>
            </a:r>
          </a:p>
        </p:txBody>
      </p:sp>
      <p:grpSp>
        <p:nvGrpSpPr>
          <p:cNvPr id="57" name="Group 64"/>
          <p:cNvGrpSpPr>
            <a:grpSpLocks/>
          </p:cNvGrpSpPr>
          <p:nvPr/>
        </p:nvGrpSpPr>
        <p:grpSpPr bwMode="auto">
          <a:xfrm>
            <a:off x="8277147" y="3278777"/>
            <a:ext cx="657847" cy="2107460"/>
            <a:chOff x="4416" y="2880"/>
            <a:chExt cx="336" cy="1344"/>
          </a:xfrm>
        </p:grpSpPr>
        <p:sp>
          <p:nvSpPr>
            <p:cNvPr id="58" name="Line 65"/>
            <p:cNvSpPr>
              <a:spLocks noChangeShapeType="1"/>
            </p:cNvSpPr>
            <p:nvPr/>
          </p:nvSpPr>
          <p:spPr bwMode="auto">
            <a:xfrm>
              <a:off x="4416" y="2880"/>
              <a:ext cx="96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Line 66"/>
            <p:cNvSpPr>
              <a:spLocks noChangeShapeType="1"/>
            </p:cNvSpPr>
            <p:nvPr/>
          </p:nvSpPr>
          <p:spPr bwMode="auto">
            <a:xfrm>
              <a:off x="4512" y="2880"/>
              <a:ext cx="0" cy="1344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Line 67"/>
            <p:cNvSpPr>
              <a:spLocks noChangeShapeType="1"/>
            </p:cNvSpPr>
            <p:nvPr/>
          </p:nvSpPr>
          <p:spPr bwMode="auto">
            <a:xfrm>
              <a:off x="4416" y="4224"/>
              <a:ext cx="96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Line 68"/>
            <p:cNvSpPr>
              <a:spLocks noChangeShapeType="1"/>
            </p:cNvSpPr>
            <p:nvPr/>
          </p:nvSpPr>
          <p:spPr bwMode="auto">
            <a:xfrm>
              <a:off x="4512" y="3552"/>
              <a:ext cx="240" cy="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2" name="Text Box 69"/>
          <p:cNvSpPr txBox="1">
            <a:spLocks noChangeArrowheads="1"/>
          </p:cNvSpPr>
          <p:nvPr/>
        </p:nvSpPr>
        <p:spPr bwMode="auto">
          <a:xfrm>
            <a:off x="8899811" y="4140277"/>
            <a:ext cx="1282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009900"/>
                </a:solidFill>
              </a:rPr>
              <a:t>Instâncias</a:t>
            </a:r>
          </a:p>
        </p:txBody>
      </p:sp>
      <p:sp>
        <p:nvSpPr>
          <p:cNvPr id="63" name="Oval 70"/>
          <p:cNvSpPr>
            <a:spLocks noChangeArrowheads="1"/>
          </p:cNvSpPr>
          <p:nvPr/>
        </p:nvSpPr>
        <p:spPr bwMode="auto">
          <a:xfrm>
            <a:off x="1406448" y="4776637"/>
            <a:ext cx="6858000" cy="762000"/>
          </a:xfrm>
          <a:prstGeom prst="ellipse">
            <a:avLst/>
          </a:prstGeom>
          <a:noFill/>
          <a:ln w="28575">
            <a:solidFill>
              <a:srgbClr val="FF66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4" name="Line 71"/>
          <p:cNvSpPr>
            <a:spLocks noChangeShapeType="1"/>
          </p:cNvSpPr>
          <p:nvPr/>
        </p:nvSpPr>
        <p:spPr bwMode="auto">
          <a:xfrm>
            <a:off x="8112048" y="5081437"/>
            <a:ext cx="762000" cy="0"/>
          </a:xfrm>
          <a:prstGeom prst="line">
            <a:avLst/>
          </a:prstGeom>
          <a:noFill/>
          <a:ln w="12700">
            <a:solidFill>
              <a:srgbClr val="FF66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Box 72"/>
          <p:cNvSpPr txBox="1">
            <a:spLocks noChangeArrowheads="1"/>
          </p:cNvSpPr>
          <p:nvPr/>
        </p:nvSpPr>
        <p:spPr bwMode="auto">
          <a:xfrm>
            <a:off x="8869286" y="4860910"/>
            <a:ext cx="7458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dirty="0" err="1" smtClean="0">
                <a:solidFill>
                  <a:srgbClr val="FF66CC"/>
                </a:solidFill>
              </a:rPr>
              <a:t>Tupla</a:t>
            </a:r>
            <a:endParaRPr lang="pt-BR" sz="2000" dirty="0">
              <a:solidFill>
                <a:srgbClr val="FF66CC"/>
              </a:solidFill>
            </a:endParaRPr>
          </a:p>
        </p:txBody>
      </p:sp>
      <p:sp>
        <p:nvSpPr>
          <p:cNvPr id="66" name="Oval 73"/>
          <p:cNvSpPr>
            <a:spLocks noChangeArrowheads="1"/>
          </p:cNvSpPr>
          <p:nvPr/>
        </p:nvSpPr>
        <p:spPr bwMode="auto">
          <a:xfrm>
            <a:off x="6727371" y="3176437"/>
            <a:ext cx="1384663" cy="2286000"/>
          </a:xfrm>
          <a:prstGeom prst="ellipse">
            <a:avLst/>
          </a:prstGeom>
          <a:noFill/>
          <a:ln w="28575">
            <a:solidFill>
              <a:schemeClr val="accent4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" name="Line 74"/>
          <p:cNvSpPr>
            <a:spLocks noChangeShapeType="1"/>
          </p:cNvSpPr>
          <p:nvPr/>
        </p:nvSpPr>
        <p:spPr bwMode="auto">
          <a:xfrm>
            <a:off x="7397944" y="2606026"/>
            <a:ext cx="0" cy="533400"/>
          </a:xfrm>
          <a:prstGeom prst="line">
            <a:avLst/>
          </a:prstGeom>
          <a:noFill/>
          <a:ln w="9525">
            <a:solidFill>
              <a:schemeClr val="accent4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68" name="Text Box 75"/>
          <p:cNvSpPr txBox="1">
            <a:spLocks noChangeArrowheads="1"/>
          </p:cNvSpPr>
          <p:nvPr/>
        </p:nvSpPr>
        <p:spPr bwMode="auto">
          <a:xfrm>
            <a:off x="6851363" y="2301226"/>
            <a:ext cx="10935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/>
                </a:solidFill>
              </a:rPr>
              <a:t>Domínio</a:t>
            </a:r>
            <a:endParaRPr lang="pt-BR" sz="2000" b="1" dirty="0">
              <a:solidFill>
                <a:schemeClr val="accent4"/>
              </a:solidFill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1371603" y="2299060"/>
            <a:ext cx="2076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/>
              <a:t>FORNECEDOR</a:t>
            </a:r>
            <a:endParaRPr lang="pt-BR" sz="2000" b="1" dirty="0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 das Relações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Não há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duplicadas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em uma relação.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ordem das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não é relevante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 diferenciar uma relação de outra.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Existe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ordem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dos valores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nas </a:t>
            </a:r>
            <a:r>
              <a:rPr lang="pt-BR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uma vez que o cabeçalho da relação (ou esquema) é definido como um conjunto de atributos.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Os valores dos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devem ser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atômicos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não sendo divisíveis em componentes.  Atributos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multivalorados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são representados por meio de uma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outra relação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 atributos </a:t>
            </a:r>
            <a:r>
              <a:rPr lang="pt-BR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compostos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pelos seus componentes.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Restrições de Integridade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Restrições: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b="1" u="sng" dirty="0" smtClean="0"/>
              <a:t> Restrições de Chaves:</a:t>
            </a:r>
            <a:r>
              <a:rPr lang="pt-BR" sz="2400" dirty="0" smtClean="0"/>
              <a:t> cada atributo das chaves candidatas deve possuir valor único em todas as </a:t>
            </a:r>
            <a:r>
              <a:rPr lang="pt-BR" sz="2400" dirty="0" err="1" smtClean="0"/>
              <a:t>tuplas</a:t>
            </a:r>
            <a:r>
              <a:rPr lang="pt-BR" sz="2400" dirty="0" smtClean="0"/>
              <a:t> da relação.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/>
              <a:t> </a:t>
            </a:r>
            <a:r>
              <a:rPr lang="pt-BR" sz="2400" b="1" u="sng" dirty="0" smtClean="0"/>
              <a:t>Restrição de Integridade de Entidade: </a:t>
            </a:r>
            <a:r>
              <a:rPr lang="pt-BR" sz="2400" dirty="0" smtClean="0"/>
              <a:t>uma chave primária não pode assumir valor nulo em qualquer </a:t>
            </a:r>
            <a:r>
              <a:rPr lang="pt-BR" sz="2400" dirty="0" err="1" smtClean="0"/>
              <a:t>tupla</a:t>
            </a:r>
            <a:r>
              <a:rPr lang="pt-BR" sz="2400" dirty="0" smtClean="0"/>
              <a:t> da relação.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/>
              <a:t> </a:t>
            </a:r>
            <a:r>
              <a:rPr lang="pt-BR" sz="2400" b="1" u="sng" dirty="0" smtClean="0"/>
              <a:t>Restrição de Integridade Referencial: </a:t>
            </a:r>
            <a:r>
              <a:rPr lang="pt-BR" sz="2400" dirty="0" smtClean="0"/>
              <a:t>uma </a:t>
            </a:r>
            <a:r>
              <a:rPr lang="pt-BR" sz="2400" dirty="0" err="1" smtClean="0"/>
              <a:t>tupla</a:t>
            </a:r>
            <a:r>
              <a:rPr lang="pt-BR" sz="2400" dirty="0" smtClean="0"/>
              <a:t> em uma relação que se refere a outra relação, deve se referenciar a uma </a:t>
            </a:r>
            <a:r>
              <a:rPr lang="pt-BR" sz="2400" dirty="0" err="1" smtClean="0"/>
              <a:t>tupla</a:t>
            </a:r>
            <a:r>
              <a:rPr lang="pt-BR" sz="2400" dirty="0" smtClean="0"/>
              <a:t> existente nesta relação. Com esta definição tem-se um novo tipo de chave denominada estrangeira.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/>
              <a:t> </a:t>
            </a:r>
            <a:r>
              <a:rPr lang="pt-BR" sz="2400" b="1" u="sng" dirty="0" smtClean="0"/>
              <a:t>Restrições de Integridade Semântica: </a:t>
            </a:r>
            <a:r>
              <a:rPr lang="pt-BR" sz="2400" dirty="0" smtClean="0"/>
              <a:t>se referem mais especificamente sobre valores ou características que determinados atributos podem assumir no contexto de uma determinada aplicação (por exemplo sexo).</a:t>
            </a:r>
            <a:endParaRPr lang="pt-BR" sz="800" dirty="0" smtClean="0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Restrições de Participação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Conceito e Tipos: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A restrição de participação determina que a existência de uma entidade depende de sua participação em um tipo de relacionamento.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Existem dois tipos de restrições de participação: </a:t>
            </a:r>
            <a:r>
              <a:rPr lang="pt-BR" sz="2400" b="1" i="1" dirty="0" smtClean="0">
                <a:solidFill>
                  <a:srgbClr val="000099"/>
                </a:solidFill>
                <a:cs typeface="Times New Roman" pitchFamily="18" charset="0"/>
              </a:rPr>
              <a:t>total</a:t>
            </a:r>
            <a:r>
              <a:rPr lang="pt-BR" sz="2400" b="1" dirty="0" smtClean="0">
                <a:solidFill>
                  <a:srgbClr val="000099"/>
                </a:solidFill>
                <a:cs typeface="Times New Roman" pitchFamily="18" charset="0"/>
              </a:rPr>
              <a:t> e </a:t>
            </a:r>
            <a:r>
              <a:rPr lang="pt-BR" sz="2400" b="1" i="1" dirty="0" smtClean="0">
                <a:solidFill>
                  <a:srgbClr val="000099"/>
                </a:solidFill>
                <a:cs typeface="Times New Roman" pitchFamily="18" charset="0"/>
              </a:rPr>
              <a:t>parcial</a:t>
            </a:r>
            <a:r>
              <a:rPr lang="pt-BR" sz="2400" dirty="0" smtClean="0"/>
              <a:t>.  A participação total está estreitamente relacionada a dependência de existência.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700" dirty="0" smtClean="0"/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/>
              <a:t>a) </a:t>
            </a:r>
            <a:r>
              <a:rPr lang="pt-BR" sz="2400" b="1" u="sng" dirty="0" smtClean="0"/>
              <a:t>Participação Total</a:t>
            </a:r>
            <a:r>
              <a:rPr lang="pt-BR" sz="2400" dirty="0" smtClean="0"/>
              <a:t>: </a:t>
            </a:r>
            <a:r>
              <a:rPr lang="pt-BR" sz="2000" dirty="0" smtClean="0">
                <a:cs typeface="Times New Roman" pitchFamily="18" charset="0"/>
              </a:rPr>
              <a:t>Suponha que um empregado deve trabalhar em um departamento, ou seja, não existem empregados que não estejam vinculados a algum departamento. Assim, uma entidade do tipo EMPREGADO existe somente se ela participa em uma instância de relacionamento TRABALHA.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Line 1039"/>
          <p:cNvSpPr>
            <a:spLocks noChangeShapeType="1"/>
          </p:cNvSpPr>
          <p:nvPr/>
        </p:nvSpPr>
        <p:spPr bwMode="auto">
          <a:xfrm flipH="1">
            <a:off x="3753412" y="5664921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5" name="Line 1040"/>
          <p:cNvSpPr>
            <a:spLocks noChangeShapeType="1"/>
          </p:cNvSpPr>
          <p:nvPr/>
        </p:nvSpPr>
        <p:spPr bwMode="auto">
          <a:xfrm>
            <a:off x="7182412" y="5664921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66" name="Group 1034"/>
          <p:cNvGrpSpPr>
            <a:grpSpLocks/>
          </p:cNvGrpSpPr>
          <p:nvPr/>
        </p:nvGrpSpPr>
        <p:grpSpPr bwMode="auto">
          <a:xfrm>
            <a:off x="1800518" y="5360121"/>
            <a:ext cx="1943022" cy="533400"/>
            <a:chOff x="288" y="3648"/>
            <a:chExt cx="740" cy="336"/>
          </a:xfrm>
          <a:solidFill>
            <a:schemeClr val="bg1"/>
          </a:solidFill>
        </p:grpSpPr>
        <p:sp>
          <p:nvSpPr>
            <p:cNvPr id="67" name="Rectangle 1029"/>
            <p:cNvSpPr>
              <a:spLocks noChangeArrowheads="1"/>
            </p:cNvSpPr>
            <p:nvPr/>
          </p:nvSpPr>
          <p:spPr bwMode="auto">
            <a:xfrm>
              <a:off x="288" y="3648"/>
              <a:ext cx="740" cy="33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>
                <a:cs typeface="+mn-cs"/>
              </a:endParaRPr>
            </a:p>
          </p:txBody>
        </p:sp>
        <p:sp>
          <p:nvSpPr>
            <p:cNvPr id="68" name="Text Box 1030"/>
            <p:cNvSpPr txBox="1">
              <a:spLocks noChangeArrowheads="1"/>
            </p:cNvSpPr>
            <p:nvPr/>
          </p:nvSpPr>
          <p:spPr bwMode="auto">
            <a:xfrm>
              <a:off x="326" y="3658"/>
              <a:ext cx="675" cy="3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BR" dirty="0">
                  <a:cs typeface="+mn-cs"/>
                </a:rPr>
                <a:t>Empregado</a:t>
              </a:r>
            </a:p>
          </p:txBody>
        </p:sp>
      </p:grpSp>
      <p:grpSp>
        <p:nvGrpSpPr>
          <p:cNvPr id="69" name="Group 1033"/>
          <p:cNvGrpSpPr>
            <a:grpSpLocks/>
          </p:cNvGrpSpPr>
          <p:nvPr/>
        </p:nvGrpSpPr>
        <p:grpSpPr bwMode="auto">
          <a:xfrm>
            <a:off x="8193650" y="5360121"/>
            <a:ext cx="2112962" cy="533400"/>
            <a:chOff x="3496" y="3648"/>
            <a:chExt cx="1331" cy="336"/>
          </a:xfrm>
        </p:grpSpPr>
        <p:sp>
          <p:nvSpPr>
            <p:cNvPr id="70" name="Rectangle 1031"/>
            <p:cNvSpPr>
              <a:spLocks noChangeArrowheads="1"/>
            </p:cNvSpPr>
            <p:nvPr/>
          </p:nvSpPr>
          <p:spPr bwMode="auto">
            <a:xfrm>
              <a:off x="3496" y="3648"/>
              <a:ext cx="130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" name="Text Box 1032"/>
            <p:cNvSpPr txBox="1">
              <a:spLocks noChangeArrowheads="1"/>
            </p:cNvSpPr>
            <p:nvPr/>
          </p:nvSpPr>
          <p:spPr bwMode="auto">
            <a:xfrm>
              <a:off x="3534" y="3658"/>
              <a:ext cx="1293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Departamento</a:t>
              </a:r>
            </a:p>
          </p:txBody>
        </p:sp>
      </p:grpSp>
      <p:grpSp>
        <p:nvGrpSpPr>
          <p:cNvPr id="72" name="Group 1038"/>
          <p:cNvGrpSpPr>
            <a:grpSpLocks/>
          </p:cNvGrpSpPr>
          <p:nvPr/>
        </p:nvGrpSpPr>
        <p:grpSpPr bwMode="auto">
          <a:xfrm>
            <a:off x="5125012" y="5131521"/>
            <a:ext cx="2057400" cy="990600"/>
            <a:chOff x="2208" y="3600"/>
            <a:chExt cx="1296" cy="624"/>
          </a:xfrm>
        </p:grpSpPr>
        <p:sp>
          <p:nvSpPr>
            <p:cNvPr id="73" name="AutoShape 1035"/>
            <p:cNvSpPr>
              <a:spLocks noChangeArrowheads="1"/>
            </p:cNvSpPr>
            <p:nvPr/>
          </p:nvSpPr>
          <p:spPr bwMode="auto">
            <a:xfrm>
              <a:off x="2208" y="3600"/>
              <a:ext cx="1296" cy="624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4" name="Text Box 1037"/>
            <p:cNvSpPr txBox="1">
              <a:spLocks noChangeArrowheads="1"/>
            </p:cNvSpPr>
            <p:nvPr/>
          </p:nvSpPr>
          <p:spPr bwMode="auto">
            <a:xfrm>
              <a:off x="2458" y="3772"/>
              <a:ext cx="85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Trabalha</a:t>
              </a:r>
            </a:p>
          </p:txBody>
        </p:sp>
      </p:grpSp>
      <p:sp>
        <p:nvSpPr>
          <p:cNvPr id="75" name="Line 1041"/>
          <p:cNvSpPr>
            <a:spLocks noChangeShapeType="1"/>
          </p:cNvSpPr>
          <p:nvPr/>
        </p:nvSpPr>
        <p:spPr bwMode="auto">
          <a:xfrm flipH="1">
            <a:off x="3753412" y="5588721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6" name="Line 1043"/>
          <p:cNvSpPr>
            <a:spLocks noChangeShapeType="1"/>
          </p:cNvSpPr>
          <p:nvPr/>
        </p:nvSpPr>
        <p:spPr bwMode="auto">
          <a:xfrm flipH="1">
            <a:off x="4896412" y="6122121"/>
            <a:ext cx="228600" cy="0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Box 1044"/>
          <p:cNvSpPr txBox="1">
            <a:spLocks noChangeArrowheads="1"/>
          </p:cNvSpPr>
          <p:nvPr/>
        </p:nvSpPr>
        <p:spPr bwMode="auto">
          <a:xfrm>
            <a:off x="1749987" y="5937971"/>
            <a:ext cx="3222625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>
                <a:solidFill>
                  <a:srgbClr val="0033CC"/>
                </a:solidFill>
              </a:rPr>
              <a:t>simboliza a participação total </a:t>
            </a:r>
          </a:p>
        </p:txBody>
      </p:sp>
      <p:sp>
        <p:nvSpPr>
          <p:cNvPr id="78" name="Line 1045"/>
          <p:cNvSpPr>
            <a:spLocks noChangeShapeType="1"/>
          </p:cNvSpPr>
          <p:nvPr/>
        </p:nvSpPr>
        <p:spPr bwMode="auto">
          <a:xfrm>
            <a:off x="4744012" y="5741121"/>
            <a:ext cx="381000" cy="3810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Restrições de Participação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Conceito e Tipos: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/>
              <a:t>b) </a:t>
            </a:r>
            <a:r>
              <a:rPr lang="pt-BR" sz="2400" b="1" u="sng" dirty="0" smtClean="0"/>
              <a:t>Participação Parcial</a:t>
            </a:r>
            <a:r>
              <a:rPr lang="pt-BR" sz="2400" dirty="0" smtClean="0"/>
              <a:t>: </a:t>
            </a:r>
            <a:r>
              <a:rPr lang="pt-BR" sz="2400" dirty="0" smtClean="0">
                <a:cs typeface="Times New Roman" pitchFamily="18" charset="0"/>
              </a:rPr>
              <a:t>o tipo de relacionamento GERENCIA, o qual envolve os tipos de entidade EMPREGADO e DEPARTAMENTO, a participação do tipo de entidade EMPREGADO é </a:t>
            </a:r>
            <a:r>
              <a:rPr lang="pt-BR" sz="2400" i="1" dirty="0" smtClean="0">
                <a:cs typeface="Times New Roman" pitchFamily="18" charset="0"/>
              </a:rPr>
              <a:t>parcial</a:t>
            </a:r>
            <a:r>
              <a:rPr lang="pt-BR" sz="2400" dirty="0" smtClean="0">
                <a:cs typeface="Times New Roman" pitchFamily="18" charset="0"/>
              </a:rPr>
              <a:t>, pois somente alguns empregados gerenciam departamentos, o que não limita a existência dos demais empregados. </a:t>
            </a:r>
            <a:endParaRPr lang="pt-BR" sz="2400" dirty="0">
              <a:cs typeface="Times New Roman" pitchFamily="18" charset="0"/>
            </a:endParaRPr>
          </a:p>
        </p:txBody>
      </p:sp>
      <p:sp>
        <p:nvSpPr>
          <p:cNvPr id="18" name="Line 1031"/>
          <p:cNvSpPr>
            <a:spLocks noChangeShapeType="1"/>
          </p:cNvSpPr>
          <p:nvPr/>
        </p:nvSpPr>
        <p:spPr bwMode="auto">
          <a:xfrm flipH="1">
            <a:off x="3361522" y="4876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9" name="Line 1032"/>
          <p:cNvSpPr>
            <a:spLocks noChangeShapeType="1"/>
          </p:cNvSpPr>
          <p:nvPr/>
        </p:nvSpPr>
        <p:spPr bwMode="auto">
          <a:xfrm>
            <a:off x="6790522" y="4876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20" name="Group 1043"/>
          <p:cNvGrpSpPr>
            <a:grpSpLocks/>
          </p:cNvGrpSpPr>
          <p:nvPr/>
        </p:nvGrpSpPr>
        <p:grpSpPr bwMode="auto">
          <a:xfrm>
            <a:off x="1685122" y="4572000"/>
            <a:ext cx="1765300" cy="533400"/>
            <a:chOff x="288" y="2880"/>
            <a:chExt cx="1112" cy="336"/>
          </a:xfrm>
        </p:grpSpPr>
        <p:sp>
          <p:nvSpPr>
            <p:cNvPr id="21" name="Rectangle 1035"/>
            <p:cNvSpPr>
              <a:spLocks noChangeArrowheads="1"/>
            </p:cNvSpPr>
            <p:nvPr/>
          </p:nvSpPr>
          <p:spPr bwMode="auto">
            <a:xfrm>
              <a:off x="288" y="2880"/>
              <a:ext cx="1056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2" name="Text Box 1036"/>
            <p:cNvSpPr txBox="1">
              <a:spLocks noChangeArrowheads="1"/>
            </p:cNvSpPr>
            <p:nvPr/>
          </p:nvSpPr>
          <p:spPr bwMode="auto">
            <a:xfrm>
              <a:off x="326" y="2890"/>
              <a:ext cx="107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Empregado</a:t>
              </a:r>
            </a:p>
          </p:txBody>
        </p:sp>
      </p:grpSp>
      <p:grpSp>
        <p:nvGrpSpPr>
          <p:cNvPr id="23" name="Group 1044"/>
          <p:cNvGrpSpPr>
            <a:grpSpLocks/>
          </p:cNvGrpSpPr>
          <p:nvPr/>
        </p:nvGrpSpPr>
        <p:grpSpPr bwMode="auto">
          <a:xfrm>
            <a:off x="7801760" y="4572000"/>
            <a:ext cx="2112962" cy="533400"/>
            <a:chOff x="4141" y="2880"/>
            <a:chExt cx="1331" cy="336"/>
          </a:xfrm>
        </p:grpSpPr>
        <p:sp>
          <p:nvSpPr>
            <p:cNvPr id="24" name="Rectangle 1038"/>
            <p:cNvSpPr>
              <a:spLocks noChangeArrowheads="1"/>
            </p:cNvSpPr>
            <p:nvPr/>
          </p:nvSpPr>
          <p:spPr bwMode="auto">
            <a:xfrm>
              <a:off x="4141" y="2880"/>
              <a:ext cx="130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" name="Text Box 1039"/>
            <p:cNvSpPr txBox="1">
              <a:spLocks noChangeArrowheads="1"/>
            </p:cNvSpPr>
            <p:nvPr/>
          </p:nvSpPr>
          <p:spPr bwMode="auto">
            <a:xfrm>
              <a:off x="4179" y="2890"/>
              <a:ext cx="1293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Departamento</a:t>
              </a:r>
            </a:p>
          </p:txBody>
        </p:sp>
      </p:grpSp>
      <p:grpSp>
        <p:nvGrpSpPr>
          <p:cNvPr id="26" name="Group 1040"/>
          <p:cNvGrpSpPr>
            <a:grpSpLocks/>
          </p:cNvGrpSpPr>
          <p:nvPr/>
        </p:nvGrpSpPr>
        <p:grpSpPr bwMode="auto">
          <a:xfrm>
            <a:off x="4733122" y="4343400"/>
            <a:ext cx="2057400" cy="990600"/>
            <a:chOff x="2208" y="3600"/>
            <a:chExt cx="1296" cy="624"/>
          </a:xfrm>
        </p:grpSpPr>
        <p:sp>
          <p:nvSpPr>
            <p:cNvPr id="27" name="AutoShape 1041"/>
            <p:cNvSpPr>
              <a:spLocks noChangeArrowheads="1"/>
            </p:cNvSpPr>
            <p:nvPr/>
          </p:nvSpPr>
          <p:spPr bwMode="auto">
            <a:xfrm>
              <a:off x="2208" y="3600"/>
              <a:ext cx="1296" cy="624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Text Box 1042"/>
            <p:cNvSpPr txBox="1">
              <a:spLocks noChangeArrowheads="1"/>
            </p:cNvSpPr>
            <p:nvPr/>
          </p:nvSpPr>
          <p:spPr bwMode="auto">
            <a:xfrm>
              <a:off x="2532" y="3772"/>
              <a:ext cx="865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Gerencia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Mapeamento do ME-R para Relacional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O Modelo Entidade-Relacionamento é responsável por realizar uma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representação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, mais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conceitual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, dos dados de uma aplicação.  Esta representação é um pouco distante da forma como realmente os elementos (entidades e relacionamentos) serão implementados.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700" dirty="0" smtClean="0">
              <a:latin typeface="Arial" pitchFamily="34" charset="0"/>
              <a:cs typeface="Arial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	O modelo relacional fornece uma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representação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dos dados de forma mais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próxima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de como estes dados se encontrarão quando forem definidos os arquivos para o BD.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Mapeamento do ME-R para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Regras para o Mapeamento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Os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passos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necessários, a partir de um projeto conceitual (ME-R), para realizar a modelagem do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projeto lógico de implementação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do BD por meio do Modelo Relacional é realizado seguindo as seguintes regras: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latin typeface="Arial" pitchFamily="34" charset="0"/>
              <a:cs typeface="Arial" pitchFamily="34" charset="0"/>
            </a:endParaRPr>
          </a:p>
          <a:p>
            <a:pPr marL="514350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Todas as entidades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são mapeadas para uma relação contendo os mesmos atributos do ME-R.</a:t>
            </a:r>
          </a:p>
          <a:p>
            <a:pPr marL="514350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Para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entidade fraca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é criada a relação contendo todos os seus atributos, tendo acrescido, como chave estrangeira, a chave primária da entidade forte (pai).</a:t>
            </a:r>
          </a:p>
          <a:p>
            <a:pPr marL="514350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pt-BR" sz="2400" b="1" u="sng" dirty="0" smtClean="0">
                <a:latin typeface="Arial" pitchFamily="34" charset="0"/>
                <a:cs typeface="Arial" pitchFamily="34" charset="0"/>
              </a:rPr>
              <a:t>Para relacionamentos 1:1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- dentre as relações que mapeiam as entidades participantes escolha uma delas (a que possuir </a:t>
            </a: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participação total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) e inclua como chave estrangeira a chave primária da outra.</a:t>
            </a:r>
            <a:endParaRPr lang="pt-BR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Mapeamento do ME-R para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Regras para o Mapeamento (cont.)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latin typeface="Arial" pitchFamily="34" charset="0"/>
              <a:cs typeface="Arial" pitchFamily="34" charset="0"/>
            </a:endParaRPr>
          </a:p>
          <a:p>
            <a:pPr marL="514350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 startAt="4"/>
              <a:tabLst>
                <a:tab pos="571500" algn="l"/>
              </a:tabLst>
            </a:pPr>
            <a:r>
              <a:rPr lang="pt-BR" sz="2400" b="1" u="sng" dirty="0" smtClean="0">
                <a:latin typeface="Arial" pitchFamily="34" charset="0"/>
                <a:cs typeface="Arial" pitchFamily="34" charset="0"/>
              </a:rPr>
              <a:t>Para relacionamentos 1:N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– escolha a relação que representa a entidade presente no lado N, e acrescente como chave estrangeira a chave primária da entidade do lado 1 (esta regra não se aplica para os relacionamentos de identificação - fracos)</a:t>
            </a:r>
          </a:p>
          <a:p>
            <a:pPr marL="514350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 startAt="4"/>
              <a:tabLst>
                <a:tab pos="571500" algn="l"/>
              </a:tabLst>
            </a:pPr>
            <a:r>
              <a:rPr lang="pt-BR" sz="2400" b="1" u="sng" dirty="0" smtClean="0">
                <a:latin typeface="Arial" pitchFamily="34" charset="0"/>
                <a:cs typeface="Arial" pitchFamily="34" charset="0"/>
              </a:rPr>
              <a:t>Para relacionamentos N:M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– é criado uma nova relação contendo como chaves estrangeiras as chaves primárias das entidades participantes, mais os atributos do relacionamento.</a:t>
            </a:r>
            <a:endParaRPr lang="pt-BR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Diagrama de Esquemas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/>
              <a:t>Uma representação simplificada que identifica “bem” um esquema e suas inter-relações é o diagrama de esquema demonstrado a seguir, com uma representação simplificada do gráfico de </a:t>
            </a:r>
            <a:r>
              <a:rPr lang="pt-BR" sz="2400" i="1" dirty="0" err="1" smtClean="0"/>
              <a:t>Gantt</a:t>
            </a:r>
            <a:r>
              <a:rPr lang="pt-BR" sz="2400" dirty="0" smtClean="0"/>
              <a:t>:</a:t>
            </a:r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2400" dirty="0" smtClean="0"/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buNone/>
              <a:tabLst>
                <a:tab pos="571500" algn="l"/>
              </a:tabLst>
            </a:pPr>
            <a:r>
              <a:rPr lang="pt-BR" sz="2400" dirty="0" smtClean="0"/>
              <a:t>Aluno </a:t>
            </a:r>
          </a:p>
          <a:p>
            <a:pPr algn="just">
              <a:spcBef>
                <a:spcPct val="20000"/>
              </a:spcBef>
              <a:buNone/>
              <a:tabLst>
                <a:tab pos="571500" algn="l"/>
              </a:tabLst>
            </a:pPr>
            <a:endParaRPr lang="pt-BR" sz="2000" dirty="0" smtClean="0"/>
          </a:p>
          <a:p>
            <a:pPr algn="just">
              <a:spcBef>
                <a:spcPct val="20000"/>
              </a:spcBef>
              <a:buNone/>
              <a:tabLst>
                <a:tab pos="571500" algn="l"/>
              </a:tabLst>
            </a:pPr>
            <a:endParaRPr lang="pt-BR" sz="600" dirty="0" smtClean="0"/>
          </a:p>
          <a:p>
            <a:pPr algn="just">
              <a:spcBef>
                <a:spcPct val="20000"/>
              </a:spcBef>
              <a:buNone/>
              <a:tabLst>
                <a:tab pos="571500" algn="l"/>
              </a:tabLst>
            </a:pPr>
            <a:r>
              <a:rPr lang="pt-BR" sz="2400" dirty="0" smtClean="0"/>
              <a:t>Curso 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upo 23"/>
          <p:cNvGrpSpPr>
            <a:grpSpLocks/>
          </p:cNvGrpSpPr>
          <p:nvPr/>
        </p:nvGrpSpPr>
        <p:grpSpPr bwMode="auto">
          <a:xfrm>
            <a:off x="1676400" y="3789363"/>
            <a:ext cx="6096000" cy="1295400"/>
            <a:chOff x="1676400" y="5334000"/>
            <a:chExt cx="6096000" cy="1295400"/>
          </a:xfrm>
        </p:grpSpPr>
        <p:grpSp>
          <p:nvGrpSpPr>
            <p:cNvPr id="48" name="Group 22"/>
            <p:cNvGrpSpPr>
              <a:grpSpLocks/>
            </p:cNvGrpSpPr>
            <p:nvPr/>
          </p:nvGrpSpPr>
          <p:grpSpPr bwMode="auto">
            <a:xfrm>
              <a:off x="1676400" y="5334000"/>
              <a:ext cx="6096000" cy="457200"/>
              <a:chOff x="864" y="3072"/>
              <a:chExt cx="3840" cy="288"/>
            </a:xfrm>
          </p:grpSpPr>
          <p:sp>
            <p:nvSpPr>
              <p:cNvPr id="59" name="Rectangle 4"/>
              <p:cNvSpPr>
                <a:spLocks noChangeArrowheads="1"/>
              </p:cNvSpPr>
              <p:nvPr/>
            </p:nvSpPr>
            <p:spPr bwMode="auto">
              <a:xfrm>
                <a:off x="864" y="3072"/>
                <a:ext cx="384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60" name="Line 5"/>
              <p:cNvSpPr>
                <a:spLocks noChangeShapeType="1"/>
              </p:cNvSpPr>
              <p:nvPr/>
            </p:nvSpPr>
            <p:spPr bwMode="auto">
              <a:xfrm>
                <a:off x="1920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61" name="Text Box 6"/>
              <p:cNvSpPr txBox="1">
                <a:spLocks noChangeArrowheads="1"/>
              </p:cNvSpPr>
              <p:nvPr/>
            </p:nvSpPr>
            <p:spPr bwMode="auto">
              <a:xfrm>
                <a:off x="864" y="3072"/>
                <a:ext cx="365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000" dirty="0"/>
                  <a:t>1  Matrícula   </a:t>
                </a:r>
                <a:r>
                  <a:rPr lang="pt-BR" sz="2000" dirty="0" smtClean="0"/>
                  <a:t>  RG    </a:t>
                </a:r>
                <a:r>
                  <a:rPr lang="pt-BR" sz="2000" dirty="0" smtClean="0"/>
                  <a:t>Nome </a:t>
                </a:r>
                <a:r>
                  <a:rPr lang="pt-BR" sz="2000" dirty="0" smtClean="0"/>
                  <a:t>   </a:t>
                </a:r>
                <a:r>
                  <a:rPr lang="pt-BR" sz="2000" dirty="0" smtClean="0"/>
                  <a:t>Telefone    </a:t>
                </a:r>
                <a:r>
                  <a:rPr lang="pt-BR" sz="2000" i="1" dirty="0" err="1"/>
                  <a:t>Id_Curso</a:t>
                </a:r>
                <a:endParaRPr lang="pt-BR" sz="2000" i="1" dirty="0"/>
              </a:p>
            </p:txBody>
          </p:sp>
          <p:sp>
            <p:nvSpPr>
              <p:cNvPr id="62" name="Line 7"/>
              <p:cNvSpPr>
                <a:spLocks noChangeShapeType="1"/>
              </p:cNvSpPr>
              <p:nvPr/>
            </p:nvSpPr>
            <p:spPr bwMode="auto">
              <a:xfrm>
                <a:off x="2304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63" name="Line 8"/>
              <p:cNvSpPr>
                <a:spLocks noChangeShapeType="1"/>
              </p:cNvSpPr>
              <p:nvPr/>
            </p:nvSpPr>
            <p:spPr bwMode="auto">
              <a:xfrm>
                <a:off x="2928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64" name="Line 9"/>
              <p:cNvSpPr>
                <a:spLocks noChangeShapeType="1"/>
              </p:cNvSpPr>
              <p:nvPr/>
            </p:nvSpPr>
            <p:spPr bwMode="auto">
              <a:xfrm>
                <a:off x="3744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056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1104" y="331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</p:grpSp>
        <p:grpSp>
          <p:nvGrpSpPr>
            <p:cNvPr id="49" name="Group 21"/>
            <p:cNvGrpSpPr>
              <a:grpSpLocks/>
            </p:cNvGrpSpPr>
            <p:nvPr/>
          </p:nvGrpSpPr>
          <p:grpSpPr bwMode="auto">
            <a:xfrm>
              <a:off x="1676400" y="6172200"/>
              <a:ext cx="3810000" cy="457200"/>
              <a:chOff x="960" y="3504"/>
              <a:chExt cx="2400" cy="288"/>
            </a:xfrm>
          </p:grpSpPr>
          <p:sp>
            <p:nvSpPr>
              <p:cNvPr id="53" name="Rectangle 13"/>
              <p:cNvSpPr>
                <a:spLocks noChangeArrowheads="1"/>
              </p:cNvSpPr>
              <p:nvPr/>
            </p:nvSpPr>
            <p:spPr bwMode="auto">
              <a:xfrm>
                <a:off x="960" y="3504"/>
                <a:ext cx="2400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54" name="Line 14"/>
              <p:cNvSpPr>
                <a:spLocks noChangeShapeType="1"/>
              </p:cNvSpPr>
              <p:nvPr/>
            </p:nvSpPr>
            <p:spPr bwMode="auto">
              <a:xfrm>
                <a:off x="2016" y="35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55" name="Text Box 15"/>
              <p:cNvSpPr txBox="1">
                <a:spLocks noChangeArrowheads="1"/>
              </p:cNvSpPr>
              <p:nvPr/>
            </p:nvSpPr>
            <p:spPr bwMode="auto">
              <a:xfrm>
                <a:off x="960" y="3504"/>
                <a:ext cx="235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2000" dirty="0"/>
                  <a:t>2  </a:t>
                </a:r>
                <a:r>
                  <a:rPr lang="pt-BR" sz="2000" dirty="0" err="1"/>
                  <a:t>Id_Curso</a:t>
                </a:r>
                <a:r>
                  <a:rPr lang="pt-BR" sz="2000" dirty="0"/>
                  <a:t>  </a:t>
                </a:r>
                <a:r>
                  <a:rPr lang="pt-BR" sz="2000" dirty="0" smtClean="0"/>
                  <a:t>    </a:t>
                </a:r>
                <a:r>
                  <a:rPr lang="pt-BR" sz="2000" dirty="0"/>
                  <a:t>Nome </a:t>
                </a:r>
                <a:r>
                  <a:rPr lang="pt-BR" sz="2000" dirty="0" smtClean="0"/>
                  <a:t>   </a:t>
                </a:r>
                <a:r>
                  <a:rPr lang="pt-BR" sz="2000" dirty="0"/>
                  <a:t>Período</a:t>
                </a:r>
              </a:p>
            </p:txBody>
          </p:sp>
          <p:sp>
            <p:nvSpPr>
              <p:cNvPr id="56" name="Line 16"/>
              <p:cNvSpPr>
                <a:spLocks noChangeShapeType="1"/>
              </p:cNvSpPr>
              <p:nvPr/>
            </p:nvSpPr>
            <p:spPr bwMode="auto">
              <a:xfrm>
                <a:off x="2640" y="35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57" name="Line 19"/>
              <p:cNvSpPr>
                <a:spLocks noChangeShapeType="1"/>
              </p:cNvSpPr>
              <p:nvPr/>
            </p:nvSpPr>
            <p:spPr bwMode="auto">
              <a:xfrm>
                <a:off x="1152" y="35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  <p:sp>
            <p:nvSpPr>
              <p:cNvPr id="58" name="Line 20"/>
              <p:cNvSpPr>
                <a:spLocks noChangeShapeType="1"/>
              </p:cNvSpPr>
              <p:nvPr/>
            </p:nvSpPr>
            <p:spPr bwMode="auto">
              <a:xfrm>
                <a:off x="1200" y="374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 sz="1600"/>
              </a:p>
            </p:txBody>
          </p:sp>
        </p:grp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 flipV="1">
              <a:off x="2514600" y="60198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2514600" y="6019800"/>
              <a:ext cx="449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sz="1600"/>
            </a:p>
          </p:txBody>
        </p: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 flipV="1">
              <a:off x="7010400" y="57912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sz="1600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41418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de um BD Relacional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Exemplo: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Sistema de Controle de Veículos</a:t>
            </a:r>
          </a:p>
        </p:txBody>
      </p:sp>
      <p:pic>
        <p:nvPicPr>
          <p:cNvPr id="45" name="Imagem 44" descr="veiculosERnov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8876" y="1782675"/>
            <a:ext cx="8027262" cy="501854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1º Exemplo do Mapeamento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Numa relação/entidade de Empregado, veja como fica o mapeamento para o Modelo Relacional: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59135"/>
          <a:stretch>
            <a:fillRect/>
          </a:stretch>
        </p:blipFill>
        <p:spPr bwMode="auto">
          <a:xfrm>
            <a:off x="1858344" y="4797425"/>
            <a:ext cx="7126287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upo 9"/>
          <p:cNvGrpSpPr>
            <a:grpSpLocks/>
          </p:cNvGrpSpPr>
          <p:nvPr/>
        </p:nvGrpSpPr>
        <p:grpSpPr bwMode="auto">
          <a:xfrm>
            <a:off x="7547944" y="2492375"/>
            <a:ext cx="2732129" cy="1296988"/>
            <a:chOff x="6588224" y="3189734"/>
            <a:chExt cx="2555776" cy="1296144"/>
          </a:xfrm>
        </p:grpSpPr>
        <p:sp>
          <p:nvSpPr>
            <p:cNvPr id="7" name="CaixaDeTexto 5"/>
            <p:cNvSpPr txBox="1">
              <a:spLocks noChangeArrowheads="1"/>
            </p:cNvSpPr>
            <p:nvPr/>
          </p:nvSpPr>
          <p:spPr bwMode="auto">
            <a:xfrm>
              <a:off x="6948264" y="3284984"/>
              <a:ext cx="2195736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BR" sz="2000" dirty="0"/>
                <a:t>Modelo Entidade-Relacionamento (Nível Conceitual)</a:t>
              </a:r>
            </a:p>
          </p:txBody>
        </p:sp>
        <p:sp>
          <p:nvSpPr>
            <p:cNvPr id="8" name="Chave direita 7"/>
            <p:cNvSpPr/>
            <p:nvPr/>
          </p:nvSpPr>
          <p:spPr>
            <a:xfrm>
              <a:off x="6588224" y="3189734"/>
              <a:ext cx="360572" cy="129614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n>
                  <a:solidFill>
                    <a:schemeClr val="accent2">
                      <a:lumMod val="50000"/>
                    </a:schemeClr>
                  </a:solidFill>
                </a:ln>
              </a:endParaRP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14427" r="17284" b="50000"/>
          <a:stretch>
            <a:fillRect/>
          </a:stretch>
        </p:blipFill>
        <p:spPr bwMode="auto">
          <a:xfrm>
            <a:off x="2506044" y="2492375"/>
            <a:ext cx="5113337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eta para baixo 9"/>
          <p:cNvSpPr/>
          <p:nvPr/>
        </p:nvSpPr>
        <p:spPr>
          <a:xfrm>
            <a:off x="4955556" y="3933825"/>
            <a:ext cx="792163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CaixaDeTexto 10"/>
          <p:cNvSpPr txBox="1">
            <a:spLocks noChangeArrowheads="1"/>
          </p:cNvSpPr>
          <p:nvPr/>
        </p:nvSpPr>
        <p:spPr bwMode="auto">
          <a:xfrm>
            <a:off x="5747719" y="4119563"/>
            <a:ext cx="18716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9059244" y="5013325"/>
            <a:ext cx="187199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/>
              <a:t>Modelo Relacional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71081" y="6308725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/>
                <a:gridCol w="2232248"/>
                <a:gridCol w="2351584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EMPREGADO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u="sng" dirty="0" err="1" smtClean="0"/>
                        <a:t>CPF_empregado</a:t>
                      </a:r>
                      <a:endParaRPr lang="pt-BR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Nome_empregado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4" name="CaixaDeTexto 13"/>
          <p:cNvSpPr txBox="1">
            <a:spLocks noChangeArrowheads="1"/>
          </p:cNvSpPr>
          <p:nvPr/>
        </p:nvSpPr>
        <p:spPr bwMode="auto">
          <a:xfrm>
            <a:off x="4739656" y="5805488"/>
            <a:ext cx="7191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ou</a:t>
            </a: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2º Exemplo do Mapeamento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Num relacionamento entre Empregado e Dependente, veja como fica o mapeamento para o Modelo Relacional: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eta para baixo 15"/>
          <p:cNvSpPr/>
          <p:nvPr/>
        </p:nvSpPr>
        <p:spPr>
          <a:xfrm>
            <a:off x="4694296" y="3789363"/>
            <a:ext cx="647700" cy="64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CaixaDeTexto 10"/>
          <p:cNvSpPr txBox="1">
            <a:spLocks noChangeArrowheads="1"/>
          </p:cNvSpPr>
          <p:nvPr/>
        </p:nvSpPr>
        <p:spPr bwMode="auto">
          <a:xfrm>
            <a:off x="5341996" y="3830638"/>
            <a:ext cx="209789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 b="50000"/>
          <a:stretch>
            <a:fillRect/>
          </a:stretch>
        </p:blipFill>
        <p:spPr bwMode="auto">
          <a:xfrm>
            <a:off x="1201796" y="2420938"/>
            <a:ext cx="9109075" cy="125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 l="1875" t="47102" r="1099"/>
          <a:stretch>
            <a:fillRect/>
          </a:stretch>
        </p:blipFill>
        <p:spPr bwMode="auto">
          <a:xfrm>
            <a:off x="1201796" y="4502150"/>
            <a:ext cx="9144000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2270184" y="5949950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/>
                <a:gridCol w="2232248"/>
                <a:gridCol w="2351584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EMPREGADO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u="sng" dirty="0" err="1" smtClean="0"/>
                        <a:t>CPF_empregado</a:t>
                      </a:r>
                      <a:endParaRPr lang="pt-BR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Nome_empregado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/>
        </p:nvGraphicFramePr>
        <p:xfrm>
          <a:off x="2192396" y="6381750"/>
          <a:ext cx="777686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/>
                <a:gridCol w="1872208"/>
                <a:gridCol w="2232248"/>
                <a:gridCol w="2088232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DEPENDENTE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u="sng" dirty="0" err="1" smtClean="0"/>
                        <a:t>CPF_empregado</a:t>
                      </a:r>
                      <a:endParaRPr lang="pt-BR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u="sng" dirty="0" err="1" smtClean="0"/>
                        <a:t>Nome_dependente</a:t>
                      </a:r>
                      <a:endParaRPr lang="pt-BR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Sexo_dependente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CaixaDeTexto 15"/>
          <p:cNvSpPr txBox="1">
            <a:spLocks noChangeArrowheads="1"/>
          </p:cNvSpPr>
          <p:nvPr/>
        </p:nvSpPr>
        <p:spPr bwMode="auto">
          <a:xfrm>
            <a:off x="1273234" y="6092825"/>
            <a:ext cx="53975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ou</a:t>
            </a:r>
          </a:p>
        </p:txBody>
      </p:sp>
      <p:sp>
        <p:nvSpPr>
          <p:cNvPr id="23" name="Chave esquerda 22"/>
          <p:cNvSpPr/>
          <p:nvPr/>
        </p:nvSpPr>
        <p:spPr>
          <a:xfrm>
            <a:off x="1812984" y="5949950"/>
            <a:ext cx="288925" cy="836613"/>
          </a:xfrm>
          <a:prstGeom prst="lef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Em Relacionamentos 1:1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xfrm>
            <a:off x="7789152" y="6028962"/>
            <a:ext cx="51117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63B93D4-6F4C-4A3B-AA0D-668A50D6942B}" type="slidenum">
              <a:rPr lang="pt-BR" smtClean="0"/>
              <a:pPr/>
              <a:t>16</a:t>
            </a:fld>
            <a:endParaRPr lang="pt-BR" smtClean="0"/>
          </a:p>
        </p:txBody>
      </p:sp>
      <p:sp>
        <p:nvSpPr>
          <p:cNvPr id="25" name="Seta para baixo 24"/>
          <p:cNvSpPr/>
          <p:nvPr/>
        </p:nvSpPr>
        <p:spPr>
          <a:xfrm>
            <a:off x="4837989" y="3487375"/>
            <a:ext cx="792163" cy="8651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6" name="CaixaDeTexto 10"/>
          <p:cNvSpPr txBox="1">
            <a:spLocks noChangeArrowheads="1"/>
          </p:cNvSpPr>
          <p:nvPr/>
        </p:nvSpPr>
        <p:spPr bwMode="auto">
          <a:xfrm>
            <a:off x="5701589" y="3631837"/>
            <a:ext cx="2084666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418" y="2093642"/>
            <a:ext cx="9144000" cy="118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5239" y="4552224"/>
            <a:ext cx="7848600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Em Relacionamentos 1:N (ou N:1)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eta para baixo 8"/>
          <p:cNvSpPr/>
          <p:nvPr/>
        </p:nvSpPr>
        <p:spPr>
          <a:xfrm>
            <a:off x="4785737" y="4231966"/>
            <a:ext cx="792163" cy="8651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CaixaDeTexto 10"/>
          <p:cNvSpPr txBox="1">
            <a:spLocks noChangeArrowheads="1"/>
          </p:cNvSpPr>
          <p:nvPr/>
        </p:nvSpPr>
        <p:spPr bwMode="auto">
          <a:xfrm>
            <a:off x="5649337" y="4376428"/>
            <a:ext cx="198451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7700" y="2034866"/>
            <a:ext cx="8748712" cy="212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7087" y="5384491"/>
            <a:ext cx="8280400" cy="142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Em Relacionamentos 1:N (ou N:1) com atributo de tipo-relacionamento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eta para baixo 7"/>
          <p:cNvSpPr/>
          <p:nvPr/>
        </p:nvSpPr>
        <p:spPr>
          <a:xfrm>
            <a:off x="4929430" y="4606161"/>
            <a:ext cx="792163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CaixaDeTexto 10"/>
          <p:cNvSpPr txBox="1">
            <a:spLocks noChangeArrowheads="1"/>
          </p:cNvSpPr>
          <p:nvPr/>
        </p:nvSpPr>
        <p:spPr bwMode="auto">
          <a:xfrm>
            <a:off x="5793030" y="4750623"/>
            <a:ext cx="2007079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9739" y="2429655"/>
            <a:ext cx="8569325" cy="21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57580" y="5554305"/>
            <a:ext cx="8915400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Em Relacionamentos M:N (ou N:N)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837989" y="3997236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5597085" y="4030619"/>
            <a:ext cx="205062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5625" y="1811706"/>
            <a:ext cx="8748713" cy="217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4864" y="4795838"/>
            <a:ext cx="8956675" cy="201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Auto-Relacionamento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119524" y="3435527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4878620" y="3468910"/>
            <a:ext cx="2090216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Mapeamento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4251" y="1750688"/>
            <a:ext cx="6073548" cy="1574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59243" y="4412116"/>
            <a:ext cx="4420825" cy="71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4349932" y="5172889"/>
            <a:ext cx="60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FF6600"/>
                </a:solidFill>
              </a:rPr>
              <a:t>ou</a:t>
            </a:r>
            <a:endParaRPr lang="pt-BR" sz="2400" dirty="0">
              <a:solidFill>
                <a:srgbClr val="FF66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15714" y="5773783"/>
            <a:ext cx="5142516" cy="398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</a:t>
            </a:r>
            <a:r>
              <a:rPr lang="pt-B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Assossiativa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 (ou de Agregação) – </a:t>
            </a:r>
            <a:r>
              <a:rPr lang="pt-BR" b="1" dirty="0" smtClean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1</a:t>
            </a:r>
            <a:endParaRPr lang="pt-BR" b="1" dirty="0">
              <a:solidFill>
                <a:srgbClr val="FF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119524" y="4389126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4878620" y="4422509"/>
            <a:ext cx="19663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C00000"/>
                </a:solidFill>
              </a:rPr>
              <a:t>Mapeamento</a:t>
            </a:r>
            <a:endParaRPr lang="pt-BR" sz="2400" dirty="0">
              <a:solidFill>
                <a:srgbClr val="C0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4979" y="1957393"/>
            <a:ext cx="7058711" cy="215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7558" y="5571587"/>
            <a:ext cx="5926729" cy="45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</a:t>
            </a:r>
            <a:r>
              <a:rPr lang="pt-B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Assossiativa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 (ou de Agregação) - </a:t>
            </a:r>
            <a:r>
              <a:rPr lang="pt-BR" b="1" dirty="0" smtClean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2</a:t>
            </a:r>
            <a:endParaRPr lang="pt-BR" b="1" dirty="0">
              <a:solidFill>
                <a:srgbClr val="FF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015020" y="4611197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4774116" y="4775210"/>
            <a:ext cx="19271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C00000"/>
                </a:solidFill>
              </a:rPr>
              <a:t>Mapeamento</a:t>
            </a:r>
            <a:endParaRPr lang="pt-BR" sz="2400" dirty="0">
              <a:solidFill>
                <a:srgbClr val="C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1870" y="1670689"/>
            <a:ext cx="5690458" cy="2770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61895" y="5537488"/>
            <a:ext cx="6624905" cy="106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Ternário (Grau 3) – </a:t>
            </a:r>
            <a:r>
              <a:rPr lang="pt-BR" b="1" dirty="0" smtClean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1</a:t>
            </a:r>
            <a:endParaRPr lang="pt-BR" b="1" dirty="0">
              <a:solidFill>
                <a:srgbClr val="FF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015020" y="4532819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4774116" y="4696832"/>
            <a:ext cx="19271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C00000"/>
                </a:solidFill>
              </a:rPr>
              <a:t>Mapeamento</a:t>
            </a:r>
            <a:endParaRPr lang="pt-BR" sz="2400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229" y="1738314"/>
            <a:ext cx="6544491" cy="2680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2926090" y="5226784"/>
            <a:ext cx="525868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Instituições (</a:t>
            </a:r>
            <a:r>
              <a:rPr lang="pt-BR" sz="2400" u="sng" dirty="0" smtClean="0"/>
              <a:t>Sigla</a:t>
            </a:r>
            <a:r>
              <a:rPr lang="pt-BR" sz="2400" dirty="0" smtClean="0"/>
              <a:t>, ...)</a:t>
            </a:r>
          </a:p>
          <a:p>
            <a:r>
              <a:rPr lang="pt-BR" sz="2400" dirty="0" smtClean="0"/>
              <a:t>Projetos (</a:t>
            </a:r>
            <a:r>
              <a:rPr lang="pt-BR" sz="2400" u="sng" dirty="0" smtClean="0"/>
              <a:t>Número</a:t>
            </a:r>
            <a:r>
              <a:rPr lang="pt-BR" sz="2400" dirty="0" smtClean="0"/>
              <a:t>, ...)</a:t>
            </a:r>
          </a:p>
          <a:p>
            <a:r>
              <a:rPr lang="pt-BR" sz="2400" dirty="0" smtClean="0"/>
              <a:t>Pesquisadores (</a:t>
            </a:r>
            <a:r>
              <a:rPr lang="pt-BR" sz="2400" u="sng" dirty="0" smtClean="0"/>
              <a:t>CPF</a:t>
            </a:r>
            <a:r>
              <a:rPr lang="pt-BR" sz="2400" dirty="0" smtClean="0"/>
              <a:t>, ...)</a:t>
            </a:r>
          </a:p>
          <a:p>
            <a:r>
              <a:rPr lang="pt-BR" sz="2400" dirty="0" smtClean="0">
                <a:solidFill>
                  <a:schemeClr val="accent5"/>
                </a:solidFill>
              </a:rPr>
              <a:t>Pesquisa (</a:t>
            </a:r>
            <a:r>
              <a:rPr lang="pt-BR" sz="2400" u="sng" dirty="0" smtClean="0">
                <a:solidFill>
                  <a:schemeClr val="accent5"/>
                </a:solidFill>
              </a:rPr>
              <a:t>Sigla</a:t>
            </a:r>
            <a:r>
              <a:rPr lang="pt-BR" sz="2400" dirty="0" smtClean="0">
                <a:solidFill>
                  <a:schemeClr val="accent5"/>
                </a:solidFill>
              </a:rPr>
              <a:t>, </a:t>
            </a:r>
            <a:r>
              <a:rPr lang="pt-BR" sz="2400" u="sng" dirty="0" smtClean="0">
                <a:solidFill>
                  <a:schemeClr val="accent5"/>
                </a:solidFill>
              </a:rPr>
              <a:t>Número</a:t>
            </a:r>
            <a:r>
              <a:rPr lang="pt-BR" sz="2400" dirty="0" smtClean="0">
                <a:solidFill>
                  <a:schemeClr val="accent5"/>
                </a:solidFill>
              </a:rPr>
              <a:t>, </a:t>
            </a:r>
            <a:r>
              <a:rPr lang="pt-BR" sz="2400" u="sng" dirty="0" smtClean="0">
                <a:solidFill>
                  <a:schemeClr val="accent5"/>
                </a:solidFill>
              </a:rPr>
              <a:t>CPF</a:t>
            </a:r>
            <a:r>
              <a:rPr lang="pt-BR" sz="2400" dirty="0" smtClean="0">
                <a:solidFill>
                  <a:schemeClr val="accent5"/>
                </a:solidFill>
              </a:rPr>
              <a:t>, </a:t>
            </a:r>
            <a:r>
              <a:rPr lang="pt-BR" sz="2400" dirty="0" err="1" smtClean="0">
                <a:solidFill>
                  <a:schemeClr val="accent5"/>
                </a:solidFill>
              </a:rPr>
              <a:t>DataInício</a:t>
            </a:r>
            <a:r>
              <a:rPr lang="pt-BR" sz="2800" dirty="0" smtClean="0">
                <a:solidFill>
                  <a:schemeClr val="accent5"/>
                </a:solidFill>
              </a:rPr>
              <a:t>)</a:t>
            </a:r>
            <a:endParaRPr lang="pt-BR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367544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mapeamento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Ternário (Grau 3) – </a:t>
            </a:r>
            <a:r>
              <a:rPr lang="pt-BR" b="1" dirty="0" smtClean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2</a:t>
            </a:r>
            <a:endParaRPr lang="pt-BR" b="1" dirty="0">
              <a:solidFill>
                <a:srgbClr val="FF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>
            <a:off x="4015020" y="4532819"/>
            <a:ext cx="792163" cy="72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CaixaDeTexto 10"/>
          <p:cNvSpPr txBox="1">
            <a:spLocks noChangeArrowheads="1"/>
          </p:cNvSpPr>
          <p:nvPr/>
        </p:nvSpPr>
        <p:spPr bwMode="auto">
          <a:xfrm>
            <a:off x="4774116" y="4696832"/>
            <a:ext cx="19271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C00000"/>
                </a:solidFill>
              </a:rPr>
              <a:t>Mapeamento</a:t>
            </a:r>
            <a:endParaRPr lang="pt-BR" sz="2400" dirty="0">
              <a:solidFill>
                <a:srgbClr val="C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2483" y="1736000"/>
            <a:ext cx="6620021" cy="2679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0559" y="5447213"/>
            <a:ext cx="5569947" cy="1353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41483" y="746371"/>
            <a:ext cx="10629700" cy="42395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Referências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endParaRPr lang="pt-BR" sz="3600" b="1" baseline="30000" dirty="0"/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ELMASRI,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Ramez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; NAVATHE,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Shamkant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B..  Sistemas de banco de dados: fundamentos e aplicações. 4ª Ed., Rio de Janeiro: LTC, 2005.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KORTH, H. F.; SILBERSCHARTZ, A.; SUDARSHAN, S. Sistemas de Banco de Dados. 3ª Edição : São Paulo, 1999.</a:t>
            </a:r>
            <a:endParaRPr lang="pt-BR" baseline="30000" dirty="0"/>
          </a:p>
          <a:p>
            <a:pPr lvl="1"/>
            <a:endParaRPr lang="pt-BR" baseline="30000" dirty="0"/>
          </a:p>
        </p:txBody>
      </p:sp>
    </p:spTree>
    <p:extLst>
      <p:ext uri="{BB962C8B-B14F-4D97-AF65-F5344CB8AC3E}">
        <p14:creationId xmlns="" xmlns:p14="http://schemas.microsoft.com/office/powerpoint/2010/main" val="30563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4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Tema4</Template>
  <TotalTime>1092</TotalTime>
  <Words>1086</Words>
  <Application>Microsoft Office PowerPoint</Application>
  <PresentationFormat>Personalizar</PresentationFormat>
  <Paragraphs>157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Tema4</vt:lpstr>
      <vt:lpstr>Modelo Relacional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Jesus Ricardo de Faria Almeida</dc:creator>
  <cp:lastModifiedBy>Admin</cp:lastModifiedBy>
  <cp:revision>73</cp:revision>
  <dcterms:created xsi:type="dcterms:W3CDTF">2016-04-06T19:51:04Z</dcterms:created>
  <dcterms:modified xsi:type="dcterms:W3CDTF">2019-02-27T15:13:53Z</dcterms:modified>
</cp:coreProperties>
</file>